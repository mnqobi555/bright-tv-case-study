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71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2" d="100"/>
          <a:sy n="102" d="100"/>
        </p:scale>
        <p:origin x="918" y="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228600" cy="10972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7315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5C518"/>
                </a:solidFill>
                <a:latin typeface="Liberation Sans"/>
              </a:rPr>
              <a:t>CASE STUDY  •  CVM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972800" cy="1371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Liberation Sans"/>
              </a:rPr>
              <a:t>BrightTV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0">
                <a:solidFill>
                  <a:srgbClr val="1FB6FF"/>
                </a:solidFill>
                <a:latin typeface="Liberation Sans"/>
              </a:rPr>
              <a:t>Viewership Analytics &amp; Growth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B6C0D1"/>
                </a:solidFill>
                <a:latin typeface="Liberation Sans"/>
              </a:rPr>
              <a:t>Insights, drivers of consumption, and recommendations</a:t>
            </a:r>
          </a:p>
          <a:p>
            <a:pPr algn="l"/>
            <a:r>
              <a:rPr sz="1400" b="0">
                <a:solidFill>
                  <a:srgbClr val="B6C0D1"/>
                </a:solidFill>
                <a:latin typeface="Liberation Sans"/>
              </a:rPr>
              <a:t>to grow the subscription base this financial year.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B6C0D1"/>
                </a:solidFill>
                <a:latin typeface="Liberation Sans"/>
              </a:rPr>
              <a:t>Prepared for the CEO  |  Source: BrightTV User Profile × Viewership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  <a:latin typeface="Liberation San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0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B6C0D1"/>
                </a:solidFill>
                <a:latin typeface="Liberation Sans"/>
              </a:rPr>
              <a:t>BrightTV  |  Viewership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B6C0D1"/>
                </a:solidFill>
                <a:latin typeface="Liberation Sans"/>
              </a:rPr>
              <a:t>CVM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914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E50914"/>
                </a:solidFill>
                <a:latin typeface="Liberation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60020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Liberation Sans"/>
              </a:rPr>
              <a:t>Dataset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96596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B6C0D1"/>
                </a:solidFill>
                <a:latin typeface="Liberation Sans"/>
              </a:rPr>
              <a:t>Scope, KPIs and headline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914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E50914"/>
                </a:solidFill>
                <a:latin typeface="Liberation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46888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Liberation Sans"/>
              </a:rPr>
              <a:t>User &amp; Usage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83464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B6C0D1"/>
                </a:solidFill>
                <a:latin typeface="Liberation Sans"/>
              </a:rPr>
              <a:t>Who is watching, when and 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91839"/>
            <a:ext cx="914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E50914"/>
                </a:solidFill>
                <a:latin typeface="Liberation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37559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Liberation Sans"/>
              </a:rPr>
              <a:t>Factors Influencing Consumption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703319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B6C0D1"/>
                </a:solidFill>
                <a:latin typeface="Liberation Sans"/>
              </a:rPr>
              <a:t>Demographics, geography &amp; timing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914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E50914"/>
                </a:solidFill>
                <a:latin typeface="Liberation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0624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Liberation Sans"/>
              </a:rPr>
              <a:t>Low-Consumption Days — Content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57200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B6C0D1"/>
                </a:solidFill>
                <a:latin typeface="Liberation Sans"/>
              </a:rPr>
              <a:t>What to schedule on Mon / Tue / Sun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29200"/>
            <a:ext cx="914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E50914"/>
                </a:solidFill>
                <a:latin typeface="Liberation San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07492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Liberation Sans"/>
              </a:rPr>
              <a:t>Growth Initiatives for the User 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44068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B6C0D1"/>
                </a:solidFill>
                <a:latin typeface="Liberation Sans"/>
              </a:rPr>
              <a:t>CVM-led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  <a:latin typeface="Liberation Sans"/>
              </a:rPr>
              <a:t>01  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Liberation Sans"/>
              </a:rPr>
              <a:t>Dataset Overview — Headline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0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B6C0D1"/>
                </a:solidFill>
                <a:latin typeface="Liberation Sans"/>
              </a:rPr>
              <a:t>BrightTV  |  Viewership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B6C0D1"/>
                </a:solidFill>
                <a:latin typeface="Liberation Sans"/>
              </a:rPr>
              <a:t>CVM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9525">
            <a:solidFill>
              <a:srgbClr val="33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2606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>
                <a:solidFill>
                  <a:srgbClr val="B6C0D1"/>
                </a:solidFill>
                <a:latin typeface="Liberation Sans"/>
              </a:rPr>
              <a:t>TOTAL SESSIONS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26060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400" b="1">
                <a:solidFill>
                  <a:srgbClr val="E50914"/>
                </a:solidFill>
                <a:latin typeface="Liberation Sans"/>
              </a:rPr>
              <a:t>10,000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5544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9525">
            <a:solidFill>
              <a:srgbClr val="33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40"/>
            <a:ext cx="2606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>
                <a:solidFill>
                  <a:srgbClr val="B6C0D1"/>
                </a:solidFill>
                <a:latin typeface="Liberation Sans"/>
              </a:rPr>
              <a:t>UNIQUE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11680"/>
            <a:ext cx="26060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400" b="1">
                <a:solidFill>
                  <a:srgbClr val="F5C518"/>
                </a:solidFill>
                <a:latin typeface="Liberation Sans"/>
              </a:rPr>
              <a:t>4,386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15544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9525">
            <a:solidFill>
              <a:srgbClr val="33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79" y="1691640"/>
            <a:ext cx="2606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>
                <a:solidFill>
                  <a:srgbClr val="B6C0D1"/>
                </a:solidFill>
                <a:latin typeface="Liberation Sans"/>
              </a:rPr>
              <a:t>AVG SESSION (MIN)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2011680"/>
            <a:ext cx="26060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400" b="1">
                <a:solidFill>
                  <a:srgbClr val="1FB6FF"/>
                </a:solidFill>
                <a:latin typeface="Liberation Sans"/>
              </a:rPr>
              <a:t>9.1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399" y="15544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9525">
            <a:solidFill>
              <a:srgbClr val="33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15399" y="1691640"/>
            <a:ext cx="2606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>
                <a:solidFill>
                  <a:srgbClr val="B6C0D1"/>
                </a:solidFill>
                <a:latin typeface="Liberation Sans"/>
              </a:rPr>
              <a:t>PEAK HOUR (SAST)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399" y="2011680"/>
            <a:ext cx="26060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400" b="1">
                <a:solidFill>
                  <a:srgbClr val="06D6A0"/>
                </a:solidFill>
                <a:latin typeface="Liberation Sans"/>
              </a:rPr>
              <a:t>17:00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  <a:latin typeface="Liberation Sans"/>
              </a:rPr>
              <a:t>Top channel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2044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Liberation Sans"/>
              </a:rPr>
              <a:t>Supersport Live 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  <a:latin typeface="Liberation Sans"/>
              </a:rPr>
              <a:t>Top province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3484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Liberation Sans"/>
              </a:rPr>
              <a:t>Gauteng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10972800" cy="12801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B6C0D1"/>
                </a:solidFill>
                <a:latin typeface="Liberation Sans"/>
              </a:rPr>
              <a:t>Note: All session times converted from UTC to South African Standard Time (UTC+2).</a:t>
            </a:r>
          </a:p>
          <a:p>
            <a:pPr algn="l"/>
            <a:r>
              <a:rPr sz="1200" b="0">
                <a:solidFill>
                  <a:srgbClr val="B6C0D1"/>
                </a:solidFill>
                <a:latin typeface="Liberation Sans"/>
              </a:rPr>
              <a:t>Each row in the dataset = one viewing session.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  <a:latin typeface="Liberation Sans"/>
              </a:rPr>
              <a:t>02  USER &amp; USAGE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Liberation Sans"/>
              </a:rPr>
              <a:t>Who Is Watching — Gender &amp; Race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0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B6C0D1"/>
                </a:solidFill>
                <a:latin typeface="Liberation Sans"/>
              </a:rPr>
              <a:t>BrightTV  |  Viewership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B6C0D1"/>
                </a:solidFill>
                <a:latin typeface="Liberation Sans"/>
              </a:rPr>
              <a:t>CVM Insights</a:t>
            </a:r>
          </a:p>
        </p:txBody>
      </p:sp>
      <p:pic>
        <p:nvPicPr>
          <p:cNvPr id="8" name="Picture 7" descr="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669280" cy="4206240"/>
          </a:xfrm>
          <a:prstGeom prst="rect">
            <a:avLst/>
          </a:prstGeom>
        </p:spPr>
      </p:pic>
      <p:pic>
        <p:nvPicPr>
          <p:cNvPr id="9" name="Picture 8" descr="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66928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760720"/>
            <a:ext cx="1115568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B6C0D1"/>
                </a:solidFill>
                <a:latin typeface="Liberation Sans"/>
              </a:rPr>
              <a:t>Audience skews MALE; black viewers are the single largest race segment, followed by white and Indian/Asian — segments to anchor any CVM campaign.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  <a:latin typeface="Liberation Sans"/>
              </a:rPr>
              <a:t>02  USER &amp; USAGE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Liberation Sans"/>
              </a:rPr>
              <a:t>Age Groups &amp; Provincial Footprint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0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B6C0D1"/>
                </a:solidFill>
                <a:latin typeface="Liberation Sans"/>
              </a:rPr>
              <a:t>BrightTV  |  Viewership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B6C0D1"/>
                </a:solidFill>
                <a:latin typeface="Liberation Sans"/>
              </a:rPr>
              <a:t>CVM Insights</a:t>
            </a:r>
          </a:p>
        </p:txBody>
      </p:sp>
      <p:pic>
        <p:nvPicPr>
          <p:cNvPr id="8" name="Picture 7" descr="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5943600" cy="4206240"/>
          </a:xfrm>
          <a:prstGeom prst="rect">
            <a:avLst/>
          </a:prstGeom>
        </p:spPr>
      </p:pic>
      <p:pic>
        <p:nvPicPr>
          <p:cNvPr id="9" name="Picture 8" descr="provi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566928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760720"/>
            <a:ext cx="1115568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B6C0D1"/>
                </a:solidFill>
                <a:latin typeface="Liberation Sans"/>
              </a:rPr>
              <a:t>Adults 25–34 dominate consumption; Gauteng leads provinces. Lower-volume provinces (NW, NC, FS) are clear acquisition white-space.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  <a:latin typeface="Liberation Sans"/>
              </a:rPr>
              <a:t>02  USER &amp; USAGE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Liberation Sans"/>
              </a:rPr>
              <a:t>Top 10 Channels by Sessions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0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B6C0D1"/>
                </a:solidFill>
                <a:latin typeface="Liberation Sans"/>
              </a:rPr>
              <a:t>BrightTV  |  Viewership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B6C0D1"/>
                </a:solidFill>
                <a:latin typeface="Liberation Sans"/>
              </a:rPr>
              <a:t>CVM Insights</a:t>
            </a:r>
          </a:p>
        </p:txBody>
      </p:sp>
      <p:pic>
        <p:nvPicPr>
          <p:cNvPr id="8" name="Picture 7" descr="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772400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1554480"/>
            <a:ext cx="32918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  <a:latin typeface="Liberation Sans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920240"/>
            <a:ext cx="3383280" cy="11887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Liberation Sans"/>
              </a:rPr>
              <a:t>• Sport drives the top of the chart — SuperSport &amp; ICC Cricket are the #1 and #2 channels.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108960"/>
            <a:ext cx="3383280" cy="11887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Liberation Sans"/>
              </a:rPr>
              <a:t>• Music (Channel O, Trace TV) and youth content follow closely.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4297680"/>
            <a:ext cx="3383280" cy="11887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Liberation Sans"/>
              </a:rPr>
              <a:t>• Long-tail kids/movie channels under-index relative to audience size.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  <a:latin typeface="Liberation Sans"/>
              </a:rPr>
              <a:t>02  USER &amp; USAGE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Liberation Sans"/>
              </a:rPr>
              <a:t>When BrightTV Is Watched (SA Time)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0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B6C0D1"/>
                </a:solidFill>
                <a:latin typeface="Liberation Sans"/>
              </a:rPr>
              <a:t>BrightTV  |  Viewership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B6C0D1"/>
                </a:solidFill>
                <a:latin typeface="Liberation Sans"/>
              </a:rPr>
              <a:t>CVM Insights</a:t>
            </a:r>
          </a:p>
        </p:txBody>
      </p:sp>
      <p:pic>
        <p:nvPicPr>
          <p:cNvPr id="8" name="Picture 7" descr="timebu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5852160" cy="4297680"/>
          </a:xfrm>
          <a:prstGeom prst="rect">
            <a:avLst/>
          </a:prstGeom>
        </p:spPr>
      </p:pic>
      <p:pic>
        <p:nvPicPr>
          <p:cNvPr id="9" name="Picture 8" descr="hour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17320"/>
            <a:ext cx="5943600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B6C0D1"/>
                </a:solidFill>
                <a:latin typeface="Liberation Sans"/>
              </a:rPr>
              <a:t>Peak window is the Evening / Night band, peaking at 17:00 SAST. Mid-mornings and late nights are the softest dayparts.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  <a:latin typeface="Liberation Sans"/>
              </a:rPr>
              <a:t>03  FACTORS INFLUENCING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Liberation Sans"/>
              </a:rPr>
              <a:t>What Drives Consumption?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0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B6C0D1"/>
                </a:solidFill>
                <a:latin typeface="Liberation Sans"/>
              </a:rPr>
              <a:t>BrightTV  |  Viewership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B6C0D1"/>
                </a:solidFill>
                <a:latin typeface="Liberation Sans"/>
              </a:rPr>
              <a:t>CVM Insights</a:t>
            </a:r>
          </a:p>
        </p:txBody>
      </p:sp>
      <p:pic>
        <p:nvPicPr>
          <p:cNvPr id="8" name="Picture 7" descr="dur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5943600" cy="4206240"/>
          </a:xfrm>
          <a:prstGeom prst="rect">
            <a:avLst/>
          </a:prstGeom>
        </p:spPr>
      </p:pic>
      <p:pic>
        <p:nvPicPr>
          <p:cNvPr id="9" name="Picture 8" descr="dur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566928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760720"/>
            <a:ext cx="1115568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B6C0D1"/>
                </a:solidFill>
                <a:latin typeface="Liberation Sans"/>
              </a:rPr>
              <a:t>Demographics (age &amp; gender), geography (province), daypart (evening/night) and content genre (sport, music) are the dominant levers. Average session length rises sharply in evening windows — confirming a prime-time effect.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  <a:latin typeface="Liberation Sans"/>
              </a:rPr>
              <a:t>03  FACTORS INFLUENCING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Liberation Sans"/>
              </a:rPr>
              <a:t>Factor Impact —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0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B6C0D1"/>
                </a:solidFill>
                <a:latin typeface="Liberation Sans"/>
              </a:rPr>
              <a:t>BrightTV  |  Viewership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B6C0D1"/>
                </a:solidFill>
                <a:latin typeface="Liberation Sans"/>
              </a:rPr>
              <a:t>CVM Insights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Factor</a:t>
                      </a:r>
                    </a:p>
                  </a:txBody>
                  <a:tcPr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Observation</a:t>
                      </a:r>
                    </a:p>
                  </a:txBody>
                  <a:tcPr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Impact</a:t>
                      </a:r>
                    </a:p>
                  </a:txBody>
                  <a:tcPr>
                    <a:solidFill>
                      <a:srgbClr val="E509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Liberation Sans"/>
                        </a:rPr>
                        <a:t>Age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Liberation Sans"/>
                        </a:rPr>
                        <a:t>Adults 25–34 dominate; Seniors 50+ smallest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50914"/>
                          </a:solidFill>
                          <a:latin typeface="Liberation Sans"/>
                        </a:rPr>
                        <a:t>HIGH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Liberation Sans"/>
                        </a:rPr>
                        <a:t>Gender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Liberation Sans"/>
                        </a:rPr>
                        <a:t>Skew to male viewers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C518"/>
                          </a:solidFill>
                          <a:latin typeface="Liberation Sans"/>
                        </a:rPr>
                        <a:t>MED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Liberation Sans"/>
                        </a:rPr>
                        <a:t>Province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Liberation Sans"/>
                        </a:rPr>
                        <a:t>Gauteng &amp; WC concentrate &gt;50% of sessions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50914"/>
                          </a:solidFill>
                          <a:latin typeface="Liberation Sans"/>
                        </a:rPr>
                        <a:t>HIGH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Liberation Sans"/>
                        </a:rPr>
                        <a:t>Daypart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Liberation Sans"/>
                        </a:rPr>
                        <a:t>Evening / Night peak at 17:00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50914"/>
                          </a:solidFill>
                          <a:latin typeface="Liberation Sans"/>
                        </a:rPr>
                        <a:t>HIGH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Liberation Sans"/>
                        </a:rPr>
                        <a:t>Day of week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Liberation Sans"/>
                        </a:rPr>
                        <a:t>Friday peak; Mon/Tue/Sun softest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C518"/>
                          </a:solidFill>
                          <a:latin typeface="Liberation Sans"/>
                        </a:rPr>
                        <a:t>MED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Liberation Sans"/>
                        </a:rPr>
                        <a:t>Content genre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Liberation Sans"/>
                        </a:rPr>
                        <a:t>Sport &amp; music outperform; kids under-index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50914"/>
                          </a:solidFill>
                          <a:latin typeface="Liberation Sans"/>
                        </a:rPr>
                        <a:t>HIGH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  <a:latin typeface="Liberation Sans"/>
              </a:rPr>
              <a:t>03  FACTORS INFLUENCING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Liberation Sans"/>
              </a:rPr>
              <a:t>The Age–Content Matrix: Demographics Define Channel Preference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0" cy="7315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B6C0D1"/>
                </a:solidFill>
                <a:latin typeface="Liberation Sans"/>
              </a:rPr>
              <a:t>BrightTV  |  Viewership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B6C0D1"/>
                </a:solidFill>
                <a:latin typeface="Liberation Sans"/>
              </a:rPr>
              <a:t>CVM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8640" y="1554480"/>
            <a:ext cx="1475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Boomerang /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Cartoon Net.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3640" y="1554480"/>
            <a:ext cx="1475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Trace /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Channel 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98640" y="1554480"/>
            <a:ext cx="1475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SuperSport /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Cricket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3640" y="1554480"/>
            <a:ext cx="1475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Africa Magic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82813"/>
            <a:ext cx="16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B6C0D1"/>
                </a:solidFill>
                <a:latin typeface="Liberation Sans"/>
              </a:rPr>
              <a:t>Infant (0–12)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8640" y="2274480"/>
            <a:ext cx="1435000" cy="576666"/>
          </a:xfrm>
          <a:prstGeom prst="rect">
            <a:avLst/>
          </a:prstGeom>
          <a:solidFill>
            <a:srgbClr val="1FB6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43640" y="2274480"/>
            <a:ext cx="1435000" cy="576666"/>
          </a:xfrm>
          <a:prstGeom prst="rect">
            <a:avLst/>
          </a:prstGeom>
          <a:solidFill>
            <a:srgbClr val="1B2A49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8640" y="2274480"/>
            <a:ext cx="1435000" cy="576666"/>
          </a:xfrm>
          <a:prstGeom prst="rect">
            <a:avLst/>
          </a:prstGeom>
          <a:solidFill>
            <a:srgbClr val="1B2A49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93640" y="2274480"/>
            <a:ext cx="1435000" cy="576666"/>
          </a:xfrm>
          <a:prstGeom prst="rect">
            <a:avLst/>
          </a:prstGeom>
          <a:solidFill>
            <a:srgbClr val="1B2A49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999480"/>
            <a:ext cx="16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B6C0D1"/>
                </a:solidFill>
                <a:latin typeface="Liberation Sans"/>
              </a:rPr>
              <a:t>Teen (13–17)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68640" y="2891146"/>
            <a:ext cx="1435000" cy="576666"/>
          </a:xfrm>
          <a:prstGeom prst="rect">
            <a:avLst/>
          </a:prstGeom>
          <a:solidFill>
            <a:srgbClr val="2A3E6E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743640" y="2891146"/>
            <a:ext cx="1435000" cy="576666"/>
          </a:xfrm>
          <a:prstGeom prst="rect">
            <a:avLst/>
          </a:prstGeom>
          <a:solidFill>
            <a:srgbClr val="2A3E6E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218640" y="2891146"/>
            <a:ext cx="1435000" cy="576666"/>
          </a:xfrm>
          <a:prstGeom prst="rect">
            <a:avLst/>
          </a:prstGeom>
          <a:solidFill>
            <a:srgbClr val="1B2A49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93640" y="2891146"/>
            <a:ext cx="1435000" cy="576666"/>
          </a:xfrm>
          <a:prstGeom prst="rect">
            <a:avLst/>
          </a:prstGeom>
          <a:solidFill>
            <a:srgbClr val="1B2A49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616146"/>
            <a:ext cx="16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B6C0D1"/>
                </a:solidFill>
                <a:latin typeface="Liberation Sans"/>
              </a:rPr>
              <a:t>Young Adult (18–24)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68640" y="3507813"/>
            <a:ext cx="1435000" cy="576666"/>
          </a:xfrm>
          <a:prstGeom prst="rect">
            <a:avLst/>
          </a:prstGeom>
          <a:solidFill>
            <a:srgbClr val="1B2A49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743640" y="3507813"/>
            <a:ext cx="1435000" cy="576666"/>
          </a:xfrm>
          <a:prstGeom prst="rect">
            <a:avLst/>
          </a:prstGeom>
          <a:solidFill>
            <a:srgbClr val="3B5CA8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218640" y="3507813"/>
            <a:ext cx="1435000" cy="576666"/>
          </a:xfrm>
          <a:prstGeom prst="rect">
            <a:avLst/>
          </a:prstGeom>
          <a:solidFill>
            <a:srgbClr val="2A3E6E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693640" y="3507813"/>
            <a:ext cx="1435000" cy="576666"/>
          </a:xfrm>
          <a:prstGeom prst="rect">
            <a:avLst/>
          </a:prstGeom>
          <a:solidFill>
            <a:srgbClr val="2A3E6E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232813"/>
            <a:ext cx="16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B6C0D1"/>
                </a:solidFill>
                <a:latin typeface="Liberation Sans"/>
              </a:rPr>
              <a:t>Adult (25–34)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68640" y="4124480"/>
            <a:ext cx="1435000" cy="576666"/>
          </a:xfrm>
          <a:prstGeom prst="rect">
            <a:avLst/>
          </a:prstGeom>
          <a:solidFill>
            <a:srgbClr val="1B2A49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743640" y="4124480"/>
            <a:ext cx="1435000" cy="576666"/>
          </a:xfrm>
          <a:prstGeom prst="rect">
            <a:avLst/>
          </a:prstGeom>
          <a:solidFill>
            <a:srgbClr val="2A3E6E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218640" y="4124480"/>
            <a:ext cx="1435000" cy="576666"/>
          </a:xfrm>
          <a:prstGeom prst="rect">
            <a:avLst/>
          </a:prstGeom>
          <a:solidFill>
            <a:srgbClr val="1FB6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693640" y="4124480"/>
            <a:ext cx="1435000" cy="576666"/>
          </a:xfrm>
          <a:prstGeom prst="rect">
            <a:avLst/>
          </a:prstGeom>
          <a:solidFill>
            <a:srgbClr val="3B5CA8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849479"/>
            <a:ext cx="16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B6C0D1"/>
                </a:solidFill>
                <a:latin typeface="Liberation Sans"/>
              </a:rPr>
              <a:t>Mid-Age (35–49)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68640" y="4741146"/>
            <a:ext cx="1435000" cy="576666"/>
          </a:xfrm>
          <a:prstGeom prst="rect">
            <a:avLst/>
          </a:prstGeom>
          <a:solidFill>
            <a:srgbClr val="1B2A49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743640" y="4741146"/>
            <a:ext cx="1435000" cy="576666"/>
          </a:xfrm>
          <a:prstGeom prst="rect">
            <a:avLst/>
          </a:prstGeom>
          <a:solidFill>
            <a:srgbClr val="1B2A49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218640" y="4741146"/>
            <a:ext cx="1435000" cy="576666"/>
          </a:xfrm>
          <a:prstGeom prst="rect">
            <a:avLst/>
          </a:prstGeom>
          <a:solidFill>
            <a:srgbClr val="1FB6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693640" y="4741146"/>
            <a:ext cx="1435000" cy="576666"/>
          </a:xfrm>
          <a:prstGeom prst="rect">
            <a:avLst/>
          </a:prstGeom>
          <a:solidFill>
            <a:srgbClr val="3B5CA8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5466146"/>
            <a:ext cx="16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B6C0D1"/>
                </a:solidFill>
                <a:latin typeface="Liberation Sans"/>
              </a:rPr>
              <a:t>Senior (50+)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68640" y="5357813"/>
            <a:ext cx="1435000" cy="576666"/>
          </a:xfrm>
          <a:prstGeom prst="rect">
            <a:avLst/>
          </a:prstGeom>
          <a:solidFill>
            <a:srgbClr val="1B2A49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743640" y="5357813"/>
            <a:ext cx="1435000" cy="576666"/>
          </a:xfrm>
          <a:prstGeom prst="rect">
            <a:avLst/>
          </a:prstGeom>
          <a:solidFill>
            <a:srgbClr val="1B2A49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218640" y="5357813"/>
            <a:ext cx="1435000" cy="576666"/>
          </a:xfrm>
          <a:prstGeom prst="rect">
            <a:avLst/>
          </a:prstGeom>
          <a:solidFill>
            <a:srgbClr val="2A3E6E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693640" y="5357813"/>
            <a:ext cx="1435000" cy="576666"/>
          </a:xfrm>
          <a:prstGeom prst="rect">
            <a:avLst/>
          </a:prstGeom>
          <a:solidFill>
            <a:srgbClr val="2A3E6E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1174480"/>
            <a:ext cx="76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5C518"/>
                </a:solidFill>
                <a:latin typeface="Liberation Sans"/>
              </a:rPr>
              <a:t>Top Channels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0000" y="1554480"/>
            <a:ext cx="3143055" cy="440000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28600" y="1754480"/>
            <a:ext cx="2685855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5C518"/>
                </a:solidFill>
                <a:latin typeface="Liberation Sans"/>
              </a:rPr>
              <a:t>Influencing Factors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28600" y="2254480"/>
            <a:ext cx="2685855" cy="3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Liberation Sans"/>
              </a:rPr>
              <a:t>Age is the absolute primary factor influencing channel preference.</a:t>
            </a:r>
          </a:p>
          <a:p>
            <a:pPr algn="l"/>
            <a:endParaRPr sz="1200" b="0" i="0">
              <a:solidFill>
                <a:srgbClr val="FFFFFF"/>
              </a:solidFill>
              <a:latin typeface="Liberation Sans"/>
            </a:endParaRPr>
          </a:p>
          <a:p>
            <a:pPr algn="l"/>
            <a:r>
              <a:rPr sz="1200" b="0" i="0">
                <a:solidFill>
                  <a:srgbClr val="FFFFFF"/>
                </a:solidFill>
                <a:latin typeface="Liberation Sans"/>
              </a:rPr>
              <a:t>The platform serves highly distinct, siloed audiences rather than a single monolithic viewer.</a:t>
            </a:r>
          </a:p>
          <a:p>
            <a:pPr algn="l"/>
            <a:endParaRPr sz="1200" b="0" i="0">
              <a:solidFill>
                <a:srgbClr val="FFFFFF"/>
              </a:solidFill>
              <a:latin typeface="Liberation Sans"/>
            </a:endParaRPr>
          </a:p>
          <a:p>
            <a:pPr algn="l"/>
            <a:r>
              <a:rPr sz="1200" b="0" i="0">
                <a:solidFill>
                  <a:srgbClr val="FFFFFF"/>
                </a:solidFill>
                <a:latin typeface="Liberation Sans"/>
              </a:rPr>
              <a:t>Content packaging must respect these rigid demographic boundaries.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  <a:latin typeface="Liberation Sans"/>
              </a:rPr>
              <a:t>03  FACTORS INFLUENCING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Engagement Depth: Session Volume vs. Session Duration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0" cy="7315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B6C0D1"/>
                </a:solidFill>
                <a:latin typeface="Liberation Sans"/>
              </a:rPr>
              <a:t>BrightTV  |  Viewership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B6C0D1"/>
                </a:solidFill>
                <a:latin typeface="Liberation Sans"/>
              </a:rPr>
              <a:t>CVM Insights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0000" y="1520000"/>
            <a:ext cx="5381527" cy="1810000"/>
          </a:xfrm>
          <a:prstGeom prst="rect">
            <a:avLst/>
          </a:prstGeom>
          <a:solidFill>
            <a:srgbClr val="111B2E"/>
          </a:solidFill>
          <a:ln w="9525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000" y="1650000"/>
            <a:ext cx="4901527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  <a:latin typeface="Liberation Sans"/>
              </a:rPr>
              <a:t>THE SNACKERS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" y="1990000"/>
            <a:ext cx="4901527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1FB6FF"/>
                </a:solidFill>
                <a:latin typeface="Liberation Sans"/>
              </a:rPr>
              <a:t>Trace TV, Channel O, SuperSport Blitz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" y="2330000"/>
            <a:ext cx="4901527" cy="9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Sans"/>
              </a:rPr>
              <a:t>Frequent but brief sessions. Highly habitual, rapid information or background utility.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1527" y="1520000"/>
            <a:ext cx="5381527" cy="1810000"/>
          </a:xfrm>
          <a:prstGeom prst="rect">
            <a:avLst/>
          </a:prstGeom>
          <a:solidFill>
            <a:srgbClr val="111B2E"/>
          </a:solidFill>
          <a:ln w="9525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81527" y="1650000"/>
            <a:ext cx="4901527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  <a:latin typeface="Liberation Sans"/>
              </a:rPr>
              <a:t>THE BINGERS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1527" y="1990000"/>
            <a:ext cx="4901527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1FB6FF"/>
                </a:solidFill>
                <a:latin typeface="Liberation Sans"/>
              </a:rPr>
              <a:t>ICC Cricket World Cup, SuperSport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1527" y="2330000"/>
            <a:ext cx="4901527" cy="9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Sans"/>
              </a:rPr>
              <a:t>Deep, extended engagement. The anchor content that justifies the subscription cost.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0000" y="3370000"/>
            <a:ext cx="5381527" cy="1810000"/>
          </a:xfrm>
          <a:prstGeom prst="rect">
            <a:avLst/>
          </a:prstGeom>
          <a:solidFill>
            <a:srgbClr val="111B2E"/>
          </a:solidFill>
          <a:ln w="9525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0000" y="3500000"/>
            <a:ext cx="4901527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  <a:latin typeface="Liberation Sans"/>
              </a:rPr>
              <a:t>THE ROUTINE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" y="3840000"/>
            <a:ext cx="4901527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1FB6FF"/>
                </a:solidFill>
                <a:latin typeface="Liberation Sans"/>
              </a:rPr>
              <a:t>Boomerang, Cartoon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" y="4180000"/>
            <a:ext cx="4901527" cy="9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Sans"/>
              </a:rPr>
              <a:t>Shorter, targeted viewing sessions, highly concentrated in specific demographic day-parts.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1527" y="3370000"/>
            <a:ext cx="5381527" cy="1810000"/>
          </a:xfrm>
          <a:prstGeom prst="rect">
            <a:avLst/>
          </a:prstGeom>
          <a:solidFill>
            <a:srgbClr val="111B2E"/>
          </a:solidFill>
          <a:ln w="9525">
            <a:solidFill>
              <a:srgbClr val="2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81527" y="3500000"/>
            <a:ext cx="4901527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  <a:latin typeface="Liberation Sans"/>
              </a:rPr>
              <a:t>THE APPOINTMENTS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1527" y="3840000"/>
            <a:ext cx="4901527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1FB6FF"/>
                </a:solidFill>
                <a:latin typeface="Liberation Sans"/>
              </a:rPr>
              <a:t>Africa Magic, M-Net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1527" y="4180000"/>
            <a:ext cx="4901527" cy="9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Sans"/>
              </a:rPr>
              <a:t>Deliberate, scheduled viewing of long-form narrative content.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000" y="2650000"/>
            <a:ext cx="380000" cy="1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B6C0D1"/>
                </a:solidFill>
                <a:latin typeface="Liberation Sans"/>
              </a:rPr>
              <a:t>S</a:t>
            </a:r>
          </a:p>
          <a:p>
            <a:pPr algn="ctr"/>
            <a:r>
              <a:rPr sz="1000" b="1" i="0">
                <a:solidFill>
                  <a:srgbClr val="B6C0D1"/>
                </a:solidFill>
                <a:latin typeface="Liberation Sans"/>
              </a:rPr>
              <a:t>E</a:t>
            </a:r>
          </a:p>
          <a:p>
            <a:pPr algn="ctr"/>
            <a:r>
              <a:rPr sz="1000" b="1" i="0">
                <a:solidFill>
                  <a:srgbClr val="B6C0D1"/>
                </a:solidFill>
                <a:latin typeface="Liberation Sans"/>
              </a:rPr>
              <a:t>S</a:t>
            </a:r>
          </a:p>
          <a:p>
            <a:pPr algn="ctr"/>
            <a:r>
              <a:rPr sz="1000" b="1" i="0">
                <a:solidFill>
                  <a:srgbClr val="B6C0D1"/>
                </a:solidFill>
                <a:latin typeface="Liberation Sans"/>
              </a:rPr>
              <a:t>S</a:t>
            </a:r>
          </a:p>
          <a:p>
            <a:pPr algn="ctr"/>
            <a:r>
              <a:rPr sz="1000" b="1" i="0">
                <a:solidFill>
                  <a:srgbClr val="B6C0D1"/>
                </a:solidFill>
                <a:latin typeface="Liberation Sans"/>
              </a:rPr>
              <a:t>I</a:t>
            </a:r>
          </a:p>
          <a:p>
            <a:pPr algn="ctr"/>
            <a:r>
              <a:rPr sz="1000" b="1" i="0">
                <a:solidFill>
                  <a:srgbClr val="B6C0D1"/>
                </a:solidFill>
                <a:latin typeface="Liberation Sans"/>
              </a:rPr>
              <a:t>O</a:t>
            </a:r>
          </a:p>
          <a:p>
            <a:pPr algn="ctr"/>
            <a:r>
              <a:rPr sz="1000" b="1" i="0">
                <a:solidFill>
                  <a:srgbClr val="B6C0D1"/>
                </a:solidFill>
                <a:latin typeface="Liberation Sans"/>
              </a:rPr>
              <a:t>N</a:t>
            </a:r>
          </a:p>
          <a:p>
            <a:pPr algn="ctr"/>
            <a:r>
              <a:rPr sz="1000" b="1" i="0">
                <a:solidFill>
                  <a:srgbClr val="B6C0D1"/>
                </a:solidFill>
                <a:latin typeface="Liberation San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000" y="5240000"/>
            <a:ext cx="10843055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B6C0D1"/>
                </a:solidFill>
                <a:latin typeface="Liberation Sans"/>
              </a:rPr>
              <a:t>Session Duration (Time)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80000"/>
            <a:ext cx="100000" cy="380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8640" y="5580000"/>
            <a:ext cx="10994415" cy="38000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8640" y="5650000"/>
            <a:ext cx="10734415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Liberation Sans"/>
              </a:rPr>
              <a:t>High session counts do not equal long watch times. Growth tactics must differentiate between promoting "snackable" utility channels and "appointment" premium networks.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  <a:latin typeface="Liberation Sans"/>
              </a:rPr>
              <a:t>03  FACTORS INFLUENCING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Time &amp; Content Synergy: The Shifting Platform Identity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0" cy="7315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B6C0D1"/>
                </a:solidFill>
                <a:latin typeface="Liberation Sans"/>
              </a:rPr>
              <a:t>BrightTV  |  Viewership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B6C0D1"/>
                </a:solidFill>
                <a:latin typeface="Liberation Sans"/>
              </a:rPr>
              <a:t>CVM Insights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47207" cy="390000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5847" y="1554480"/>
            <a:ext cx="5447207" cy="390000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8640" y="1754480"/>
            <a:ext cx="4927207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F5C518"/>
                </a:solidFill>
                <a:latin typeface="Liberation Sans"/>
              </a:rPr>
              <a:t>Daytime Viewing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640" y="2174480"/>
            <a:ext cx="4927207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1FB6FF"/>
                </a:solidFill>
                <a:latin typeface="Liberation Sans"/>
              </a:rPr>
              <a:t>(Morning &amp; Mid-Morning)  •  ~09:00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640" y="2844480"/>
            <a:ext cx="80000" cy="80000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8640" y="2704480"/>
            <a:ext cx="4767207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Liberation Sans"/>
              </a:rPr>
              <a:t>Dominant Content: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640" y="3024480"/>
            <a:ext cx="4767207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Liberation Sans"/>
              </a:rPr>
              <a:t>Kids Animation (Boomerang) &amp; Sports Replays.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640" y="3724480"/>
            <a:ext cx="80000" cy="80000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8640" y="3584480"/>
            <a:ext cx="4767207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Liberation Sans"/>
              </a:rPr>
              <a:t>Active User: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640" y="3904480"/>
            <a:ext cx="4767207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Liberation Sans"/>
              </a:rPr>
              <a:t>Secondary household members (children, non-traditional working hours).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8640" y="4604480"/>
            <a:ext cx="80000" cy="80000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8640" y="4464480"/>
            <a:ext cx="4767207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Liberation Sans"/>
              </a:rPr>
              <a:t>Viewing State: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640" y="4784480"/>
            <a:ext cx="4767207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Liberation Sans"/>
              </a:rPr>
              <a:t>Passive, routine viewing.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847" y="1754480"/>
            <a:ext cx="4927207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F5C518"/>
                </a:solidFill>
                <a:latin typeface="Liberation Sans"/>
              </a:rPr>
              <a:t>Nighttime Viewing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847" y="2174480"/>
            <a:ext cx="4927207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1FB6FF"/>
                </a:solidFill>
                <a:latin typeface="Liberation Sans"/>
              </a:rPr>
              <a:t>(Evening &amp; Night)  •  ~20:00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5847" y="2844480"/>
            <a:ext cx="80000" cy="80000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5847" y="2704480"/>
            <a:ext cx="4767207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Liberation Sans"/>
              </a:rPr>
              <a:t>Dominant Content: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5847" y="3024480"/>
            <a:ext cx="4767207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Liberation Sans"/>
              </a:rPr>
              <a:t>Long-form narrative (Africa Magic), Live Events, Reality (E!).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5847" y="3724480"/>
            <a:ext cx="80000" cy="80000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15847" y="3584480"/>
            <a:ext cx="4767207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Liberation Sans"/>
              </a:rPr>
              <a:t>Active User: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5847" y="3904480"/>
            <a:ext cx="4767207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Liberation Sans"/>
              </a:rPr>
              <a:t>Primary account holders winding down post-workday.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5847" y="4604480"/>
            <a:ext cx="80000" cy="80000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15847" y="4464480"/>
            <a:ext cx="4767207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Liberation Sans"/>
              </a:rPr>
              <a:t>Viewing State: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5847" y="4784480"/>
            <a:ext cx="4767207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Liberation Sans"/>
              </a:rPr>
              <a:t>Active, appointment viewing.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654480"/>
            <a:ext cx="100000" cy="460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8640" y="5654480"/>
            <a:ext cx="10994415" cy="46000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8640" y="5734480"/>
            <a:ext cx="10734415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Liberation Sans"/>
              </a:rPr>
              <a:t>Time of day dictates the "active user" within the household. The consumption model shifts completely from secondary viewers in the morning to primary bill-payers in the evening.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  <a:latin typeface="Liberation Sans"/>
              </a:rPr>
              <a:t>04  LOW-CONSUMPTION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Liberation Sans"/>
              </a:rPr>
              <a:t>Low-Consumption Days: Mon, Tue &amp; Sun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0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B6C0D1"/>
                </a:solidFill>
                <a:latin typeface="Liberation Sans"/>
              </a:rPr>
              <a:t>BrightTV  |  Viewership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B6C0D1"/>
                </a:solidFill>
                <a:latin typeface="Liberation Sans"/>
              </a:rPr>
              <a:t>CVM Insights</a:t>
            </a:r>
          </a:p>
        </p:txBody>
      </p:sp>
      <p:pic>
        <p:nvPicPr>
          <p:cNvPr id="8" name="Picture 7" descr="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7863840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1554480"/>
            <a:ext cx="3474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  <a:latin typeface="Liberation Sans"/>
              </a:rPr>
              <a:t>OBSERVATION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474720" cy="4114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Liberation Sans"/>
              </a:rPr>
              <a:t>Friday is the strongest day; Monday, Tuesday and Sunday fall below the weekly average.</a:t>
            </a:r>
          </a:p>
          <a:p>
            <a:pPr algn="l"/>
            <a:endParaRPr sz="1200" b="0">
              <a:solidFill>
                <a:srgbClr val="FFFFFF"/>
              </a:solidFill>
              <a:latin typeface="Liberation Sans"/>
            </a:endParaRPr>
          </a:p>
          <a:p>
            <a:pPr algn="l"/>
            <a:r>
              <a:rPr sz="1200" b="0">
                <a:solidFill>
                  <a:srgbClr val="FFFFFF"/>
                </a:solidFill>
                <a:latin typeface="Liberation Sans"/>
              </a:rPr>
              <a:t>Opportunity: programme high-pull, exclusive content into these dayparts to flatten the consumption curve.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  <a:latin typeface="Liberation Sans"/>
              </a:rPr>
              <a:t>04  CONTENT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Liberation Sans"/>
              </a:rPr>
              <a:t>Content Plan to Lift Low-Consumption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0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B6C0D1"/>
                </a:solidFill>
                <a:latin typeface="Liberation Sans"/>
              </a:rPr>
              <a:t>BrightTV  |  Viewership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B6C0D1"/>
                </a:solidFill>
                <a:latin typeface="Liberation Sans"/>
              </a:rPr>
              <a:t>CVM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828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E50914"/>
                </a:solidFill>
                <a:latin typeface="Liberation Sans"/>
              </a:rPr>
              <a:t>MONDAY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Liberation Sans"/>
              </a:rPr>
              <a:t>Premiere night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B6C0D1"/>
                </a:solidFill>
                <a:latin typeface="Liberation Sans"/>
              </a:rPr>
              <a:t>Drop new series episodes &amp; blockbuster movie premieres at 19:00 — capitalise on the prime-time peak.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1828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F5C518"/>
                </a:solidFill>
                <a:latin typeface="Liberation Sans"/>
              </a:rPr>
              <a:t>TUESDAY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5760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Liberation Sans"/>
              </a:rPr>
              <a:t>Live sport &amp; docuseries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4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B6C0D1"/>
                </a:solidFill>
                <a:latin typeface="Liberation Sans"/>
              </a:rPr>
              <a:t>Mid-week live football / cricket highlights packages and binge-worthy true-crime docuseries for 25–34 segment.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17720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9050">
            <a:solidFill>
              <a:srgbClr val="1F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754880"/>
            <a:ext cx="1828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FB6FF"/>
                </a:solidFill>
                <a:latin typeface="Liberation Sans"/>
              </a:rPr>
              <a:t>SUNDAY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6636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Liberation Sans"/>
              </a:rPr>
              <a:t>Family &amp; lifestyle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8640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B6C0D1"/>
                </a:solidFill>
                <a:latin typeface="Liberation Sans"/>
              </a:rPr>
              <a:t>Family movie afternoon, reality TV finales and music chart shows (Channel O / Trace TV) targeting weekend wind-down.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  <a:latin typeface="Liberation Sans"/>
              </a:rPr>
              <a:t>05  GROWTH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Liberation Sans"/>
              </a:rPr>
              <a:t>Initiatives to Grow the User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0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B6C0D1"/>
                </a:solidFill>
                <a:latin typeface="Liberation Sans"/>
              </a:rPr>
              <a:t>BrightTV  |  Viewership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B6C0D1"/>
                </a:solidFill>
                <a:latin typeface="Liberation Sans"/>
              </a:rPr>
              <a:t>CVM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9525">
            <a:solidFill>
              <a:srgbClr val="33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F5C518"/>
                </a:solidFill>
                <a:latin typeface="Liberation Sans"/>
              </a:rPr>
              <a:t>Targeted 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50292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Liberation Sans"/>
              </a:rPr>
              <a:t>Run digital campaigns in under-indexed provinces (NW, NC, FS, Limpopo). Bundle with local mobile data partners.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9525">
            <a:solidFill>
              <a:srgbClr val="33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4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F5C518"/>
                </a:solidFill>
                <a:latin typeface="Liberation Sans"/>
              </a:rPr>
              <a:t>Segmented 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50292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Liberation Sans"/>
              </a:rPr>
              <a:t>Student &amp; family bundles aimed at the 13–24 group; senior-friendly bundles at lower price points.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9525">
            <a:solidFill>
              <a:srgbClr val="33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24612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F5C518"/>
                </a:solidFill>
                <a:latin typeface="Liberation Sans"/>
              </a:rPr>
              <a:t>Sport-led Hooks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11880"/>
            <a:ext cx="50292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Liberation Sans"/>
              </a:rPr>
              <a:t>Use SuperSport / Cricket as anchor content for free-trial offers — converts highest-intent viewers.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10896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9525">
            <a:solidFill>
              <a:srgbClr val="33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24612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F5C518"/>
                </a:solidFill>
                <a:latin typeface="Liberation Sans"/>
              </a:rPr>
              <a:t>Personalised CVM Journeys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611880"/>
            <a:ext cx="50292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Liberation Sans"/>
              </a:rPr>
              <a:t>Trigger emails / WhatsApp nudges by age × genre; recommend channels based on session history.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66344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9525">
            <a:solidFill>
              <a:srgbClr val="33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80060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F5C518"/>
                </a:solidFill>
                <a:latin typeface="Liberation Sans"/>
              </a:rPr>
              <a:t>Reduce Churn on Light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66360"/>
            <a:ext cx="50292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Liberation Sans"/>
              </a:rPr>
              <a:t>Push Mon/Tue/Sun content drops via app notifications to keep dormant users engaged.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66344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9525">
            <a:solidFill>
              <a:srgbClr val="33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480060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F5C518"/>
                </a:solidFill>
                <a:latin typeface="Liberation Sans"/>
              </a:rPr>
              <a:t>Loyalty &amp; Referral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166360"/>
            <a:ext cx="50292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Liberation Sans"/>
              </a:rPr>
              <a:t>Reward long-tenure users with previews &amp; referral discounts to drive organic acquisition.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228600" cy="13716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5C518"/>
                </a:solidFill>
                <a:latin typeface="Liberation Sans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Liberation Sans"/>
              </a:rPr>
              <a:t>Grow BrightTV by doubling down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Liberation Sans"/>
              </a:rPr>
              <a:t>on what already 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B6C0D1"/>
                </a:solidFill>
                <a:latin typeface="Liberation Sans"/>
              </a:rPr>
              <a:t>• Anchor on Adults 25–34, Gauteng &amp; WC, evening prime-time, sport &amp; music.</a:t>
            </a:r>
          </a:p>
          <a:p>
            <a:pPr algn="l"/>
            <a:r>
              <a:rPr sz="1400" b="0">
                <a:solidFill>
                  <a:srgbClr val="B6C0D1"/>
                </a:solidFill>
                <a:latin typeface="Liberation Sans"/>
              </a:rPr>
              <a:t>• Programme premieres and live sport into Mon / Tue / Sun to lift low days.</a:t>
            </a:r>
          </a:p>
          <a:p>
            <a:pPr algn="l"/>
            <a:r>
              <a:rPr sz="1400" b="0">
                <a:solidFill>
                  <a:srgbClr val="B6C0D1"/>
                </a:solidFill>
                <a:latin typeface="Liberation Sans"/>
              </a:rPr>
              <a:t>• Use CVM segmentation, targeted acquisition in low-share provinces, and loyalty tools to grow subscribers.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1204</Words>
  <Application>Microsoft Office PowerPoint</Application>
  <PresentationFormat>Widescreen</PresentationFormat>
  <Paragraphs>210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Liberation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 Z -BOOK</cp:lastModifiedBy>
  <cp:revision>3</cp:revision>
  <dcterms:created xsi:type="dcterms:W3CDTF">2013-01-27T09:14:16Z</dcterms:created>
  <dcterms:modified xsi:type="dcterms:W3CDTF">2026-04-17T19:50:30Z</dcterms:modified>
  <cp:category/>
</cp:coreProperties>
</file>